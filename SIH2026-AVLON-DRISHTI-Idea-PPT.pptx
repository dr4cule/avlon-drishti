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400">
                <a:latin typeface="Arial"/>
              </a:rPr>
              <a:t>Problem Statement ID - SIH26247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400">
                <a:latin typeface="Arial"/>
              </a:rPr>
              <a:t>Problem Statement Title - AI-Enabled Drone &amp; Counter-Drone Threat Simulation Trainer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400">
                <a:latin typeface="Arial"/>
              </a:rPr>
              <a:t>Theme - Robotics and Drones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400">
                <a:latin typeface="Arial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AVLON DRISHTI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828800"/>
            <a:ext cx="6949440" cy="429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just"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b="1" sz="2200">
                <a:latin typeface="Arial"/>
              </a:rPr>
              <a:t>Offline, adaptive drone-threat decision trainer.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spcAft>
                <a:spcPts val="600"/>
              </a:spcAft>
            </a:pPr>
            <a:r>
              <a:rPr b="0" sz="1800">
                <a:latin typeface="Arial"/>
              </a:rPr>
              <a:t>▸ Problem: </a:t>
            </a:r>
            <a:r>
              <a:rPr b="1" sz="1800">
                <a:latin typeface="Arial"/>
              </a:rPr>
              <a:t>cheap drones + swarms are decisive — Op Sindoor (May 2025): hundreds of drones in waves vs India’s integrated grid. Training = slides + rare live drills → too few reps. ~385 Ashni platoons (×20–25 operators each) need exactly this trainer.</a:t>
            </a:r>
          </a:p>
          <a:p>
            <a:pPr algn="just">
              <a:spcAft>
                <a:spcPts val="600"/>
              </a:spcAft>
            </a:pPr>
            <a:r>
              <a:rPr b="0" sz="1800">
                <a:latin typeface="Arial"/>
              </a:rPr>
              <a:t>▸ Solution: </a:t>
            </a:r>
            <a:r>
              <a:rPr b="1" sz="1800">
                <a:latin typeface="Arial"/>
              </a:rPr>
              <a:t>laptop, offline, no GPU. Imperfect sensor picture → acknowledge → classify → reasoned response → explainable score → sensor-vs-truth replay → adaptive next exercise.</a:t>
            </a:r>
          </a:p>
          <a:p>
            <a:pPr algn="just">
              <a:spcAft>
                <a:spcPts val="600"/>
              </a:spcAft>
            </a:pPr>
            <a:r>
              <a:rPr b="0" sz="1800">
                <a:latin typeface="Arial"/>
              </a:rPr>
              <a:t>▸ Coverage: </a:t>
            </a:r>
            <a:r>
              <a:rPr b="1" sz="1800">
                <a:latin typeface="Arial"/>
              </a:rPr>
              <a:t>10 scripted exercises (L1–L5) + unlimited seeded generation · 8-node decision-tree scoring · AAR + unit dashboard · fingerprint diversity ends rote learning.</a:t>
            </a:r>
          </a:p>
          <a:p>
            <a:pPr algn="just">
              <a:spcAft>
                <a:spcPts val="600"/>
              </a:spcAft>
            </a:pPr>
            <a:r>
              <a:rPr b="0" sz="1800">
                <a:latin typeface="Arial"/>
              </a:rPr>
              <a:t>▸ Uniqueness: </a:t>
            </a:r>
            <a:r>
              <a:rPr b="1" sz="1800">
                <a:latin typeface="Arial"/>
              </a:rPr>
              <a:t>we score judgment under uncertainty — with receipts: byte-identical replay, fairness-gated AI, advisory-only models.</a:t>
            </a:r>
          </a:p>
          <a:p>
            <a:pPr algn="just"/>
            <a:r>
              <a:rPr b="1" sz="1900" i="1">
                <a:latin typeface="Arial"/>
              </a:rPr>
              <a:t>“Confidence is evidence quality, not permission to act.”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01-mi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828800"/>
            <a:ext cx="2743200" cy="32455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b="1" sz="2000">
                <a:latin typeface="Arial"/>
              </a:rPr>
              <a:t>Stack (checkable): </a:t>
            </a:r>
            <a:r>
              <a:rPr b="0" sz="2000">
                <a:latin typeface="Arial"/>
              </a:rPr>
              <a:t>React 19 + TypeScript + Canvas · Node 24 + Express + built-in SQLite · one pure-TS sim-core runs in browser, server, tests · Vitest 82/82 + Playwright 2/2, typecheck clean.</a:t>
            </a:r>
          </a:p>
          <a:p>
            <a:pPr algn="just">
              <a:spcAft>
                <a:spcPts val="600"/>
              </a:spcAft>
            </a:pPr>
            <a:r>
              <a:rPr b="1" sz="2000">
                <a:latin typeface="Arial"/>
              </a:rPr>
              <a:t>Loop: </a:t>
            </a:r>
            <a:r>
              <a:rPr b="0" sz="1900">
                <a:latin typeface="Arial"/>
              </a:rPr>
              <a:t>SIMULATED SENSORS → 15-feature model → hypothesis + confidence + evidence → HUMAN DECIDES → deterministic scoring → replay → skill model → adaptive challenge → generator ↺</a:t>
            </a:r>
          </a:p>
          <a:p>
            <a:pPr algn="just">
              <a:spcAft>
                <a:spcPts val="600"/>
              </a:spcAft>
            </a:pPr>
            <a:r>
              <a:rPr b="1" sz="2000">
                <a:latin typeface="Arial"/>
              </a:rPr>
              <a:t>Four kinds of “AI”, named honestly: </a:t>
            </a:r>
            <a:r>
              <a:rPr b="0" sz="2000">
                <a:latin typeface="Arial"/>
              </a:rPr>
              <a:t>TRAINED ML = threat classifier only · STATISTICAL = Bayesian skill model · RULE-BASED = patterns, challenge mapping · DETERMINISTIC = sim, scoring, replay, fairness gate.</a:t>
            </a:r>
          </a:p>
          <a:p>
            <a:pPr algn="just">
              <a:spcAft>
                <a:spcPts val="600"/>
              </a:spcAft>
            </a:pPr>
            <a:r>
              <a:rPr b="1" sz="2000">
                <a:latin typeface="Arial"/>
              </a:rPr>
              <a:t>Measured, not promised: </a:t>
            </a:r>
            <a:r>
              <a:rPr b="0" sz="2000">
                <a:latin typeface="Arial"/>
              </a:rPr>
              <a:t>15 features → 6 classes · 14,874 synthetic observations · 230 simulated scenarios · held-out test: accuracy 70.3% · macro F1 0.622 · balanced acc. 0.692 · ECE 0.109→0.046 · ~2 KB weights · &lt;1 ms CPU · offline.</a:t>
            </a:r>
          </a:p>
          <a:p>
            <a:pPr algn="just">
              <a:spcAft>
                <a:spcPts val="600"/>
              </a:spcAft>
            </a:pPr>
            <a:r>
              <a:rPr b="1" sz="2000">
                <a:latin typeface="Arial"/>
              </a:rPr>
              <a:t>AI DOES: </a:t>
            </a:r>
            <a:r>
              <a:rPr b="0" sz="2000">
                <a:latin typeface="Arial"/>
              </a:rPr>
              <a:t>interpret sensor evidence · estimate hypothesis · expose uncertainty · find weaknesses · recommend next exercise. </a:t>
            </a:r>
            <a:r>
              <a:rPr b="1" sz="2000">
                <a:latin typeface="Arial"/>
              </a:rPr>
              <a:t>DOES NOT: </a:t>
            </a:r>
            <a:r>
              <a:rPr b="0" sz="2000">
                <a:latin typeface="Arial"/>
              </a:rPr>
              <a:t>touch scoring/ROE · see ground truth · need cloud/GPU · decide.</a:t>
            </a:r>
          </a:p>
          <a:p>
            <a:pPr algn="just"/>
            <a:r>
              <a:rPr b="1" sz="2000" i="1">
                <a:latin typeface="Arial"/>
              </a:rPr>
              <a:t>AI recommends. Deterministic simulation verifies. Human decides.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2200">
                <a:latin typeface="Arial"/>
              </a:rPr>
              <a:t>It runs today, on an ordinary laptop.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>
              <a:spcAft>
                <a:spcPts val="600"/>
              </a:spcAft>
            </a:pPr>
            <a:r>
              <a:rPr b="0" sz="2000">
                <a:latin typeface="Arial"/>
              </a:rPr>
              <a:t>▸ </a:t>
            </a:r>
            <a:r>
              <a:rPr b="1" sz="2000">
                <a:latin typeface="Arial"/>
              </a:rPr>
              <a:t>Vendored offline bundle (Node included, zero prerequisites) or Docker. </a:t>
            </a:r>
            <a:r>
              <a:rPr b="0" sz="2000">
                <a:latin typeface="Arial"/>
              </a:rPr>
              <a:t>Dev: npm install + npm run dev (UI :5173, API :3001) · single-port: npm run build + npm start. M1–M7 built and checklist-gated.</a:t>
            </a:r>
          </a:p>
          <a:p>
            <a:pPr algn="just">
              <a:spcAft>
                <a:spcPts val="600"/>
              </a:spcAft>
            </a:pPr>
            <a:r>
              <a:rPr b="0" sz="2000">
                <a:latin typeface="Arial"/>
              </a:rPr>
              <a:t>▸ Risk → mitigation: </a:t>
            </a:r>
            <a:r>
              <a:rPr b="1" sz="2000">
                <a:latin typeface="Arial"/>
              </a:rPr>
              <a:t>experimental node:sqlite → runtime pinned + vendored, 10+ persistence tests · no real sensor data → synthetic-but-schema-faithful fixtures, replay-verified, transfer disclaimed · disputed scores → byte-identical replay from scenario + seed + action log.</a:t>
            </a:r>
          </a:p>
          <a:p>
            <a:pPr algn="just">
              <a:spcAft>
                <a:spcPts val="600"/>
              </a:spcAft>
            </a:pPr>
            <a:r>
              <a:rPr b="0" sz="2000">
                <a:latin typeface="Arial"/>
              </a:rPr>
              <a:t>▸ Scope discipline protects the core — explicitly out: </a:t>
            </a:r>
            <a:r>
              <a:rPr b="1" sz="2000">
                <a:latin typeface="Arial"/>
              </a:rPr>
              <a:t>VR/WebXR, networked team roles, RL adversary, Hindi UI, photorealism, real weapon specs.</a:t>
            </a:r>
          </a:p>
          <a:p>
            <a:pPr algn="just"/>
            <a:r>
              <a:rPr b="0" sz="2000">
                <a:latin typeface="Arial"/>
              </a:rPr>
              <a:t>▸ Demo-ready: </a:t>
            </a:r>
            <a:r>
              <a:rPr b="1" sz="2000">
                <a:latin typeface="Arial"/>
              </a:rPr>
              <a:t>4-minute judge script (nightfall → deliberate mistake → debrief → replay toggle → adaptive → readiness) with live → bundle → video → deck fallbacks.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694944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2200">
                <a:latin typeface="Arial"/>
              </a:rPr>
              <a:t>600 decision-reps a month, at ~₹0 marginal cost.</a:t>
            </a:r>
          </a:p>
          <a:p>
            <a:pPr algn="just">
              <a:spcAft>
                <a:spcPts val="600"/>
              </a:spcAft>
            </a:pPr>
            <a:r>
              <a:rPr b="0" sz="2000">
                <a:latin typeface="Arial"/>
              </a:rPr>
              <a:t>▸ Math (shown working): </a:t>
            </a:r>
            <a:r>
              <a:rPr b="1" sz="2000">
                <a:latin typeface="Arial"/>
              </a:rPr>
              <a:t>1 station × 30 trainees × 20 reps/month = 600 reps/month vs one live-fire drill day. Ashni scale: ~385 platoons × 20–25 troops.</a:t>
            </a:r>
          </a:p>
          <a:p>
            <a:pPr algn="just">
              <a:spcAft>
                <a:spcPts val="600"/>
              </a:spcAft>
            </a:pPr>
            <a:r>
              <a:rPr b="0" sz="2000">
                <a:latin typeface="Arial"/>
              </a:rPr>
              <a:t>▸ Who gains: </a:t>
            </a:r>
            <a:r>
              <a:rPr b="1" sz="2000">
                <a:latin typeface="Arial"/>
              </a:rPr>
              <a:t>trainees (reps under pressure) · instructors (author once, assign, track trends) · commanders (observed unit evidence) · DSSC evaluators (all 4 SIH outcomes, one workflow).</a:t>
            </a:r>
          </a:p>
          <a:p>
            <a:pPr algn="just">
              <a:spcAft>
                <a:spcPts val="600"/>
              </a:spcAft>
            </a:pPr>
            <a:r>
              <a:rPr b="0" sz="2000">
                <a:latin typeface="Arial"/>
              </a:rPr>
              <a:t>▸ Cost: </a:t>
            </a:r>
            <a:r>
              <a:rPr b="1" sz="2000">
                <a:latin typeface="Arial"/>
              </a:rPr>
              <a:t>₹0 new hardware (existing laptop, integrated graphics OK) · ₹0 licences (no cloud/API/telemetry) · backup = copy one SQLite file (~5 min) · air-gap friendly, CSV rollup.</a:t>
            </a:r>
          </a:p>
          <a:p>
            <a:pPr algn="just"/>
            <a:r>
              <a:rPr b="0" sz="2000">
                <a:latin typeface="Arial"/>
              </a:rPr>
              <a:t>▸ Benefits: </a:t>
            </a:r>
            <a:r>
              <a:rPr b="1" sz="2000">
                <a:latin typeface="Arial"/>
              </a:rPr>
              <a:t>unlimited fair repetitions · judgment under uncertainty · explainable, replayable feedback · weakness-targeted practice, zero rote learning · honest boundaries — no false readiness claims.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6-readi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37744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0" sz="1900">
                <a:latin typeface="Arial"/>
              </a:rPr>
              <a:t>▸ </a:t>
            </a:r>
            <a:r>
              <a:rPr b="1" sz="1900">
                <a:latin typeface="Arial"/>
              </a:rPr>
              <a:t>SIH26247 verified </a:t>
            </a:r>
            <a:r>
              <a:rPr b="0" sz="1900">
                <a:latin typeface="Arial"/>
              </a:rPr>
              <a:t>against the official listing (ID, title, org, category, theme, all four outcomes) — desktop alone satisfies outcome 1.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>
              <a:spcAft>
                <a:spcPts val="500"/>
              </a:spcAft>
            </a:pPr>
            <a:r>
              <a:rPr b="0" sz="1900">
                <a:latin typeface="Arial"/>
              </a:rPr>
              <a:t>▸ Engineering: </a:t>
            </a:r>
            <a:r>
              <a:rPr b="1" sz="1900">
                <a:latin typeface="Arial"/>
              </a:rPr>
              <a:t>Fiedler fixed-timestep (deterministic replay) · Reynolds boids (swarm motion, no neural engine) · pyBKT context (we use a simpler documented Beta model) · MDN offline reasoning · SQLite file-DB rationale · node:sqlite docs.</a:t>
            </a:r>
          </a:p>
          <a:p>
            <a:pPr algn="just">
              <a:spcAft>
                <a:spcPts val="500"/>
              </a:spcAft>
            </a:pPr>
            <a:r>
              <a:rPr b="0" sz="1900">
                <a:latin typeface="Arial"/>
              </a:rPr>
              <a:t>▸ Warfare grounding (open sources): </a:t>
            </a:r>
            <a:r>
              <a:rPr b="1" sz="1900">
                <a:latin typeface="Arial"/>
              </a:rPr>
              <a:t>Ukraine FPV revolution + cost-exchange crisis (interceptors cost 20–50× the drone) · Shahed night/acoustic/volley-saturation traits · TB2 lesson: effectiveness is context-dependent · Op Sindoor, May 2025: hundreds of drones in waves vs Integrated Counter-UAS grid + indigenous Akash/Akashteer · Ashni platoons in ~385 battalions (Oct 2025) · ATP 3-01.81 detect→decide · EU SeDaFuV sim · ATLAS decision-intelligence.</a:t>
            </a:r>
          </a:p>
          <a:p>
            <a:pPr algn="just"/>
            <a:r>
              <a:rPr b="1" sz="1900" i="1">
                <a:latin typeface="Arial"/>
              </a:rPr>
              <a:t>Same seed + same decisions = byte-identical replay. Ask us to prove it live.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